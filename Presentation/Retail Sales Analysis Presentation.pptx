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D49DF4-29AB-42DD-A38C-D937538A0CEC}" v="568" dt="2026-07-03T17:55:41.479"/>
    <p1510:client id="{D1D13D70-79B5-4C58-B2DF-43A69434E9EA}" v="530" dt="2026-07-04T08:07:04.501"/>
    <p1510:client id="{FA9FA40D-6EFF-48F6-8A34-188A0F968366}" v="716" dt="2026-07-03T17:02:23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CED746-06B1-B880-AE59-A65C0E755E66}"/>
              </a:ext>
            </a:extLst>
          </p:cNvPr>
          <p:cNvSpPr txBox="1"/>
          <p:nvPr/>
        </p:nvSpPr>
        <p:spPr>
          <a:xfrm>
            <a:off x="477671" y="477671"/>
            <a:ext cx="112501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>
                <a:solidFill>
                  <a:srgbClr val="002060"/>
                </a:solidFill>
                <a:ea typeface="+mn-lt"/>
                <a:cs typeface="+mn-lt"/>
              </a:rPr>
              <a:t>Retail Sales Analysis using the Superstore Dataset</a:t>
            </a:r>
            <a:endParaRPr lang="en-US" sz="3200" b="1">
              <a:solidFill>
                <a:srgbClr val="002060"/>
              </a:solidFill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569ADC-8EB6-76A4-79F9-2754243ACC28}"/>
              </a:ext>
            </a:extLst>
          </p:cNvPr>
          <p:cNvSpPr txBox="1"/>
          <p:nvPr/>
        </p:nvSpPr>
        <p:spPr>
          <a:xfrm>
            <a:off x="477671" y="1433014"/>
            <a:ext cx="113048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>
                <a:solidFill>
                  <a:schemeClr val="bg2">
                    <a:lumMod val="49000"/>
                  </a:schemeClr>
                </a:solidFill>
              </a:rPr>
              <a:t>Data Analyst Internship Project </a:t>
            </a:r>
            <a:endParaRPr lang="en-US" sz="20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457FA-8344-6005-AD34-498660251226}"/>
              </a:ext>
            </a:extLst>
          </p:cNvPr>
          <p:cNvSpPr txBox="1"/>
          <p:nvPr/>
        </p:nvSpPr>
        <p:spPr>
          <a:xfrm>
            <a:off x="624114" y="1978925"/>
            <a:ext cx="109409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+mn-lt"/>
                <a:cs typeface="+mn-lt"/>
              </a:rPr>
              <a:t>Presented</a:t>
            </a:r>
            <a:r>
              <a:rPr lang="en-GB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GB" sz="2000" b="1">
                <a:ea typeface="+mn-lt"/>
                <a:cs typeface="+mn-lt"/>
              </a:rPr>
              <a:t>By</a:t>
            </a:r>
            <a:endParaRPr lang="en-US" sz="20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0E9D6-DF77-547E-C5C5-DA43C98D77A2}"/>
              </a:ext>
            </a:extLst>
          </p:cNvPr>
          <p:cNvSpPr txBox="1"/>
          <p:nvPr/>
        </p:nvSpPr>
        <p:spPr>
          <a:xfrm>
            <a:off x="763624" y="2377743"/>
            <a:ext cx="564107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+mn-lt"/>
                <a:cs typeface="+mn-lt"/>
              </a:rPr>
              <a:t>Mandar Vijay </a:t>
            </a:r>
            <a:r>
              <a:rPr lang="en-GB" err="1">
                <a:ea typeface="+mn-lt"/>
                <a:cs typeface="+mn-lt"/>
              </a:rPr>
              <a:t>Alhat</a:t>
            </a:r>
            <a:endParaRPr lang="en-US" err="1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B.Sc. Data Science (First Year)</a:t>
            </a:r>
            <a:endParaRPr lang="en-GB"/>
          </a:p>
          <a:p>
            <a:r>
              <a:rPr lang="en-GB">
                <a:ea typeface="+mn-lt"/>
                <a:cs typeface="+mn-lt"/>
              </a:rPr>
              <a:t>Symbiosis Skills and Professional University (SSPU)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1375F-1D69-DB63-4CA3-6D16BD896498}"/>
              </a:ext>
            </a:extLst>
          </p:cNvPr>
          <p:cNvSpPr txBox="1"/>
          <p:nvPr/>
        </p:nvSpPr>
        <p:spPr>
          <a:xfrm>
            <a:off x="625739" y="3426454"/>
            <a:ext cx="5527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ea typeface="+mn-lt"/>
                <a:cs typeface="+mn-lt"/>
              </a:rPr>
              <a:t>Organization</a:t>
            </a:r>
            <a:endParaRPr lang="en-US" sz="20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7851B-04A8-F402-DF3F-091EF45B3FE0}"/>
              </a:ext>
            </a:extLst>
          </p:cNvPr>
          <p:cNvSpPr txBox="1"/>
          <p:nvPr/>
        </p:nvSpPr>
        <p:spPr>
          <a:xfrm>
            <a:off x="765575" y="3826247"/>
            <a:ext cx="32982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+mn-lt"/>
                <a:cs typeface="+mn-lt"/>
              </a:rPr>
              <a:t>LA Green Solutions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F963B-9935-8AD7-59D0-56A0C09D4D14}"/>
              </a:ext>
            </a:extLst>
          </p:cNvPr>
          <p:cNvSpPr txBox="1"/>
          <p:nvPr/>
        </p:nvSpPr>
        <p:spPr>
          <a:xfrm>
            <a:off x="628362" y="4333575"/>
            <a:ext cx="41445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ea typeface="+mn-lt"/>
                <a:cs typeface="+mn-lt"/>
              </a:rPr>
              <a:t>Internship Duration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DAD7F-D6C8-6B10-00E5-2FCDAAD6636B}"/>
              </a:ext>
            </a:extLst>
          </p:cNvPr>
          <p:cNvSpPr txBox="1"/>
          <p:nvPr/>
        </p:nvSpPr>
        <p:spPr>
          <a:xfrm>
            <a:off x="763947" y="4702982"/>
            <a:ext cx="41259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+mn-lt"/>
                <a:cs typeface="+mn-lt"/>
              </a:rPr>
              <a:t>1 June 2026 – 31 July 2026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8CEA5B-3445-54E9-E8AD-CC5A4BEBFD94}"/>
              </a:ext>
            </a:extLst>
          </p:cNvPr>
          <p:cNvSpPr txBox="1"/>
          <p:nvPr/>
        </p:nvSpPr>
        <p:spPr>
          <a:xfrm>
            <a:off x="626061" y="5203902"/>
            <a:ext cx="3048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+mn-lt"/>
                <a:cs typeface="+mn-lt"/>
              </a:rPr>
              <a:t>Tools Used</a:t>
            </a:r>
            <a:endParaRPr lang="en-US" sz="2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564A3-E539-609D-E268-8DE612F07ACE}"/>
              </a:ext>
            </a:extLst>
          </p:cNvPr>
          <p:cNvSpPr txBox="1"/>
          <p:nvPr/>
        </p:nvSpPr>
        <p:spPr>
          <a:xfrm>
            <a:off x="763416" y="5606407"/>
            <a:ext cx="334536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Microsoft Excel Online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MySQL Workbench</a:t>
            </a:r>
            <a:endParaRPr lang="en-GB"/>
          </a:p>
          <a:p>
            <a:pPr algn="l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0225C0-4377-3C63-7B2D-D8E65D160283}"/>
              </a:ext>
            </a:extLst>
          </p:cNvPr>
          <p:cNvCxnSpPr/>
          <p:nvPr/>
        </p:nvCxnSpPr>
        <p:spPr>
          <a:xfrm flipV="1">
            <a:off x="801471" y="1875351"/>
            <a:ext cx="10594544" cy="4991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31DC-76AA-1697-1DDB-8C091A74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Project Overview</a:t>
            </a:r>
            <a:endParaRPr lang="en-US" b="1">
              <a:solidFill>
                <a:srgbClr val="002060"/>
              </a:solidFill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CEDE-12F9-59BC-AEE4-069A664D3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3055"/>
            <a:ext cx="10515600" cy="509156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60000"/>
              </a:lnSpc>
              <a:buNone/>
            </a:pPr>
            <a:r>
              <a:rPr lang="en-GB" sz="2000" b="1">
                <a:solidFill>
                  <a:srgbClr val="002060"/>
                </a:solidFill>
              </a:rPr>
              <a:t>Overview</a:t>
            </a:r>
            <a:endParaRPr lang="en-GB" sz="2000">
              <a:solidFill>
                <a:srgbClr val="002060"/>
              </a:solidFill>
              <a:ea typeface="+mn-lt"/>
              <a:cs typeface="+mn-lt"/>
            </a:endParaRPr>
          </a:p>
          <a:p>
            <a:pPr>
              <a:lnSpc>
                <a:spcPct val="170000"/>
              </a:lnSpc>
              <a:buNone/>
            </a:pPr>
            <a:r>
              <a:rPr lang="en-GB" sz="1800">
                <a:solidFill>
                  <a:srgbClr val="000000"/>
                </a:solidFill>
                <a:ea typeface="+mn-lt"/>
                <a:cs typeface="+mn-lt"/>
              </a:rPr>
              <a:t>     This project was completed during my </a:t>
            </a:r>
            <a:r>
              <a:rPr lang="en-GB" sz="1800" b="1">
                <a:solidFill>
                  <a:srgbClr val="000000"/>
                </a:solidFill>
                <a:ea typeface="+mn-lt"/>
                <a:cs typeface="+mn-lt"/>
              </a:rPr>
              <a:t>Data Analyst Internship at LA Green Solutions</a:t>
            </a:r>
            <a:r>
              <a:rPr lang="en-GB" sz="1800">
                <a:solidFill>
                  <a:srgbClr val="000000"/>
                </a:solidFill>
                <a:ea typeface="+mn-lt"/>
                <a:cs typeface="+mn-lt"/>
              </a:rPr>
              <a:t>. The objective was to </a:t>
            </a:r>
            <a:r>
              <a:rPr lang="en-GB" sz="1800" err="1">
                <a:solidFill>
                  <a:srgbClr val="000000"/>
                </a:solidFill>
                <a:ea typeface="+mn-lt"/>
                <a:cs typeface="+mn-lt"/>
              </a:rPr>
              <a:t>analyze</a:t>
            </a:r>
            <a:r>
              <a:rPr lang="en-GB" sz="1800">
                <a:solidFill>
                  <a:srgbClr val="000000"/>
                </a:solidFill>
                <a:ea typeface="+mn-lt"/>
                <a:cs typeface="+mn-lt"/>
              </a:rPr>
              <a:t> the Superstore retail sales dataset using </a:t>
            </a:r>
            <a:r>
              <a:rPr lang="en-GB" sz="1800" b="1">
                <a:solidFill>
                  <a:srgbClr val="000000"/>
                </a:solidFill>
                <a:ea typeface="+mn-lt"/>
                <a:cs typeface="+mn-lt"/>
              </a:rPr>
              <a:t>MySQL</a:t>
            </a:r>
            <a:r>
              <a:rPr lang="en-GB" sz="1800">
                <a:solidFill>
                  <a:srgbClr val="000000"/>
                </a:solidFill>
                <a:ea typeface="+mn-lt"/>
                <a:cs typeface="+mn-lt"/>
              </a:rPr>
              <a:t> and </a:t>
            </a:r>
            <a:r>
              <a:rPr lang="en-GB" sz="1800" b="1">
                <a:solidFill>
                  <a:srgbClr val="000000"/>
                </a:solidFill>
                <a:ea typeface="+mn-lt"/>
                <a:cs typeface="+mn-lt"/>
              </a:rPr>
              <a:t>Microsoft Excel Online</a:t>
            </a:r>
            <a:r>
              <a:rPr lang="en-GB" sz="1800">
                <a:solidFill>
                  <a:srgbClr val="000000"/>
                </a:solidFill>
                <a:ea typeface="+mn-lt"/>
                <a:cs typeface="+mn-lt"/>
              </a:rPr>
              <a:t> to identify sales trends, evaluate business performance, and support data-driven decision-making through an interactive dashboard and business reports.</a:t>
            </a:r>
          </a:p>
          <a:p>
            <a:pPr>
              <a:lnSpc>
                <a:spcPct val="160000"/>
              </a:lnSpc>
              <a:buNone/>
            </a:pPr>
            <a:r>
              <a:rPr lang="en-GB" sz="2000" b="1">
                <a:solidFill>
                  <a:srgbClr val="002060"/>
                </a:solidFill>
              </a:rPr>
              <a:t>Key Highlights</a:t>
            </a:r>
          </a:p>
          <a:p>
            <a:pPr>
              <a:lnSpc>
                <a:spcPct val="160000"/>
              </a:lnSpc>
              <a:buFont typeface="Arial"/>
              <a:buChar char="•"/>
            </a:pPr>
            <a:r>
              <a:rPr lang="en-GB" sz="1800" err="1">
                <a:ea typeface="+mn-lt"/>
                <a:cs typeface="+mn-lt"/>
              </a:rPr>
              <a:t>Analyzed</a:t>
            </a:r>
            <a:r>
              <a:rPr lang="en-GB" sz="1800">
                <a:ea typeface="+mn-lt"/>
                <a:cs typeface="+mn-lt"/>
              </a:rPr>
              <a:t> retail sales and profit data using SQL.</a:t>
            </a:r>
            <a:endParaRPr lang="en-GB" sz="1800"/>
          </a:p>
          <a:p>
            <a:pPr>
              <a:lnSpc>
                <a:spcPct val="16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Built an interactive dashboard in Microsoft Excel Online.</a:t>
            </a:r>
            <a:endParaRPr lang="en-GB" sz="1800"/>
          </a:p>
          <a:p>
            <a:pPr>
              <a:lnSpc>
                <a:spcPct val="16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Verified KPIs and visualizations.</a:t>
            </a:r>
            <a:endParaRPr lang="en-GB" sz="1800"/>
          </a:p>
          <a:p>
            <a:pPr>
              <a:lnSpc>
                <a:spcPct val="16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Identified business insights and recommendations.</a:t>
            </a:r>
            <a:endParaRPr lang="en-GB" sz="1800"/>
          </a:p>
          <a:p>
            <a:pPr>
              <a:lnSpc>
                <a:spcPct val="16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Prepared professional project documentation.</a:t>
            </a:r>
            <a:endParaRPr lang="en-GB"/>
          </a:p>
          <a:p>
            <a:pPr>
              <a:lnSpc>
                <a:spcPct val="160000"/>
              </a:lnSpc>
              <a:buNone/>
            </a:pPr>
            <a:endParaRPr lang="en-GB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244FC7-54CD-04C8-7EFA-EAE430A9AA1A}"/>
              </a:ext>
            </a:extLst>
          </p:cNvPr>
          <p:cNvCxnSpPr/>
          <p:nvPr/>
        </p:nvCxnSpPr>
        <p:spPr>
          <a:xfrm>
            <a:off x="508176" y="1607776"/>
            <a:ext cx="11184195" cy="444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667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B4E4752-3BC6-424B-B4C3-BE90B34C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Project Objectives</a:t>
            </a:r>
            <a:endParaRPr lang="en-US" b="1">
              <a:solidFill>
                <a:srgbClr val="002060"/>
              </a:solidFill>
              <a:latin typeface="Apto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67E787-9469-9D59-4564-B3977ECE6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000">
                <a:solidFill>
                  <a:srgbClr val="002060"/>
                </a:solidFill>
                <a:ea typeface="+mn-lt"/>
                <a:cs typeface="+mn-lt"/>
              </a:rPr>
              <a:t>🎯 Business Objectives</a:t>
            </a:r>
            <a:endParaRPr lang="en-US" sz="200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035EDEE-7A8B-84FE-89DC-70DD4261B8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err="1">
                <a:ea typeface="+mn-lt"/>
                <a:cs typeface="+mn-lt"/>
              </a:rPr>
              <a:t>Analyze</a:t>
            </a:r>
            <a:r>
              <a:rPr lang="en-GB" sz="1800">
                <a:ea typeface="+mn-lt"/>
                <a:cs typeface="+mn-lt"/>
              </a:rPr>
              <a:t> retail sales performance</a:t>
            </a:r>
            <a:endParaRPr lang="en-GB" sz="180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Identify profitable product categories</a:t>
            </a:r>
            <a:endParaRPr lang="en-GB" sz="180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Evaluate regional sales trends</a:t>
            </a:r>
            <a:endParaRPr lang="en-GB" sz="180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Compare sales across different states</a:t>
            </a:r>
            <a:endParaRPr lang="en-GB" sz="1800"/>
          </a:p>
          <a:p>
            <a:pPr>
              <a:lnSpc>
                <a:spcPct val="150000"/>
              </a:lnSpc>
            </a:pPr>
            <a:endParaRPr lang="en-GB" sz="18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5719B4-3259-6D75-9DEA-D2E976488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2000">
                <a:solidFill>
                  <a:srgbClr val="002060"/>
                </a:solidFill>
                <a:latin typeface="Aptos"/>
                <a:ea typeface="+mn-lt"/>
                <a:cs typeface="+mn-lt"/>
              </a:rPr>
              <a:t>💻 Technical Objectives</a:t>
            </a:r>
            <a:endParaRPr lang="en-US" sz="2000">
              <a:solidFill>
                <a:srgbClr val="002060"/>
              </a:solidFill>
              <a:latin typeface="Apto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11A37D4-C7C2-9D0F-C32D-A1D715B86A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Perform SQL-based data analysis</a:t>
            </a:r>
            <a:endParaRPr lang="en-US" sz="180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Build an interactive Excel dashboard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Verify KPIs and business metrics</a:t>
            </a:r>
            <a:endParaRPr lang="en-GB" sz="180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Present insights through reports</a:t>
            </a:r>
            <a:endParaRPr lang="en-GB" sz="1800"/>
          </a:p>
          <a:p>
            <a:pPr marL="457200" lvl="1" indent="0">
              <a:lnSpc>
                <a:spcPct val="150000"/>
              </a:lnSpc>
              <a:buNone/>
            </a:pPr>
            <a:endParaRPr lang="en-GB" sz="1800">
              <a:latin typeface="Apto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AE4873-3695-EC89-2B4C-06B6815C1DD7}"/>
              </a:ext>
            </a:extLst>
          </p:cNvPr>
          <p:cNvCxnSpPr/>
          <p:nvPr/>
        </p:nvCxnSpPr>
        <p:spPr>
          <a:xfrm>
            <a:off x="531253" y="1642056"/>
            <a:ext cx="11129492" cy="1073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41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00AF-3DE0-AC13-DA93-2A48AB65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Dataset Description</a:t>
            </a:r>
            <a:endParaRPr lang="en-US" b="1">
              <a:solidFill>
                <a:srgbClr val="002060"/>
              </a:solidFill>
              <a:latin typeface="Apto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A600E-1F87-690C-A0D8-3D960E3A0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solidFill>
                  <a:srgbClr val="002060"/>
                </a:solidFill>
                <a:ea typeface="+mn-lt"/>
                <a:cs typeface="+mn-lt"/>
              </a:rPr>
              <a:t>Dataset Information</a:t>
            </a:r>
            <a:endParaRPr lang="en-US">
              <a:solidFill>
                <a:srgbClr val="002060"/>
              </a:solidFill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4054D90C-4154-CE56-23C3-D09E9226BB2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5753017"/>
              </p:ext>
            </p:extLst>
          </p:nvPr>
        </p:nvGraphicFramePr>
        <p:xfrm>
          <a:off x="839788" y="2505075"/>
          <a:ext cx="5157786" cy="23469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578893">
                  <a:extLst>
                    <a:ext uri="{9D8B030D-6E8A-4147-A177-3AD203B41FA5}">
                      <a16:colId xmlns:a16="http://schemas.microsoft.com/office/drawing/2014/main" val="692402755"/>
                    </a:ext>
                  </a:extLst>
                </a:gridCol>
                <a:gridCol w="2578893">
                  <a:extLst>
                    <a:ext uri="{9D8B030D-6E8A-4147-A177-3AD203B41FA5}">
                      <a16:colId xmlns:a16="http://schemas.microsoft.com/office/drawing/2014/main" val="1820356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332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Dataset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Superstore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20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File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603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Analysis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MySQL Workbench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980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Dashboard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Microsoft Excel Online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015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Project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Retail Sales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75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Internship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</a:rPr>
                        <a:t>LA Green 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771201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43492-22AB-AF41-92C9-F808D0C5C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2000">
                <a:solidFill>
                  <a:srgbClr val="002060"/>
                </a:solidFill>
                <a:ea typeface="+mn-lt"/>
                <a:cs typeface="+mn-lt"/>
              </a:rPr>
              <a:t>Key Dataset Fields</a:t>
            </a:r>
            <a:endParaRPr lang="en-US" sz="200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0A8BF-11FB-34F3-4A7E-98A0A851BD0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📦 Order ID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👤 Customer Name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📅 Order Date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🌍 Region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🏙 State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📂 Category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🛒 Sub-Category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💰 Sales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📈 Profit</a:t>
            </a:r>
            <a:endParaRPr lang="en-GB" sz="1800"/>
          </a:p>
          <a:p>
            <a:pPr marL="0" indent="0">
              <a:buNone/>
            </a:pPr>
            <a:r>
              <a:rPr lang="en-GB" sz="1800">
                <a:ea typeface="+mn-lt"/>
                <a:cs typeface="+mn-lt"/>
              </a:rPr>
              <a:t>🚚 Ship Mode</a:t>
            </a:r>
            <a:endParaRPr lang="en-GB" sz="1800"/>
          </a:p>
          <a:p>
            <a:pPr marL="0" indent="0">
              <a:buNone/>
            </a:pPr>
            <a:endParaRPr lang="en-GB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0955D2-5914-DE95-9E34-CC2DEE5C7779}"/>
              </a:ext>
            </a:extLst>
          </p:cNvPr>
          <p:cNvCxnSpPr/>
          <p:nvPr/>
        </p:nvCxnSpPr>
        <p:spPr>
          <a:xfrm>
            <a:off x="842910" y="1683313"/>
            <a:ext cx="10509105" cy="2062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98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848E-0B9D-D5CE-52C0-E3A04B0E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Tools &amp; Technologies</a:t>
            </a:r>
            <a:endParaRPr lang="en-US" sz="3000" b="1">
              <a:solidFill>
                <a:srgbClr val="002060"/>
              </a:solidFill>
              <a:latin typeface="Aptos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8033DE-6FE2-EAB0-6E92-6D2A0DA19177}"/>
              </a:ext>
            </a:extLst>
          </p:cNvPr>
          <p:cNvCxnSpPr/>
          <p:nvPr/>
        </p:nvCxnSpPr>
        <p:spPr>
          <a:xfrm>
            <a:off x="840528" y="1742614"/>
            <a:ext cx="10507043" cy="1548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ADF996D-BFF4-5CDA-8903-2D25766906AC}"/>
              </a:ext>
            </a:extLst>
          </p:cNvPr>
          <p:cNvSpPr txBox="1"/>
          <p:nvPr/>
        </p:nvSpPr>
        <p:spPr>
          <a:xfrm>
            <a:off x="840203" y="2195329"/>
            <a:ext cx="4333488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600">
                <a:solidFill>
                  <a:srgbClr val="002060"/>
                </a:solidFill>
              </a:rPr>
              <a:t>🗄️</a:t>
            </a:r>
            <a:r>
              <a:rPr lang="en-GB" sz="3000">
                <a:solidFill>
                  <a:srgbClr val="002060"/>
                </a:solidFill>
              </a:rPr>
              <a:t> MySQL Workbench</a:t>
            </a:r>
            <a:endParaRPr lang="en-US" sz="3000">
              <a:solidFill>
                <a:srgbClr val="00206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SQL Queries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Data Analysis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KPI Verification</a:t>
            </a:r>
            <a:endParaRPr lang="en-GB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4E883-E062-B636-9624-1B5C2617F185}"/>
              </a:ext>
            </a:extLst>
          </p:cNvPr>
          <p:cNvSpPr txBox="1"/>
          <p:nvPr/>
        </p:nvSpPr>
        <p:spPr>
          <a:xfrm>
            <a:off x="7165074" y="2068068"/>
            <a:ext cx="4187479" cy="172354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600">
                <a:solidFill>
                  <a:srgbClr val="002060"/>
                </a:solidFill>
              </a:rPr>
              <a:t>📊Microsoft Excel Online</a:t>
            </a:r>
            <a:endParaRPr lang="en-US" sz="2600">
              <a:solidFill>
                <a:srgbClr val="00206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Dashboard Creation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Charts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Pivot Tables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KPI Visualization</a:t>
            </a:r>
            <a:endParaRPr lang="en-GB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3E8E1-6968-1385-0ED9-A117A2EB918E}"/>
              </a:ext>
            </a:extLst>
          </p:cNvPr>
          <p:cNvSpPr txBox="1"/>
          <p:nvPr/>
        </p:nvSpPr>
        <p:spPr>
          <a:xfrm>
            <a:off x="835812" y="4117106"/>
            <a:ext cx="4329959" cy="178510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600">
                <a:solidFill>
                  <a:srgbClr val="002060"/>
                </a:solidFill>
              </a:rPr>
              <a:t>📈</a:t>
            </a:r>
            <a:r>
              <a:rPr lang="en-GB" sz="3000">
                <a:solidFill>
                  <a:srgbClr val="002060"/>
                </a:solidFill>
              </a:rPr>
              <a:t>Business Analytics</a:t>
            </a:r>
            <a:endParaRPr lang="en-US" sz="3000">
              <a:solidFill>
                <a:srgbClr val="00206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Sales Analysis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Profit Analysis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Regional Performance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Business Insights</a:t>
            </a:r>
            <a:endParaRPr lang="en-GB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0DB6F-87F5-A78A-E169-FF80E908A15E}"/>
              </a:ext>
            </a:extLst>
          </p:cNvPr>
          <p:cNvSpPr txBox="1"/>
          <p:nvPr/>
        </p:nvSpPr>
        <p:spPr>
          <a:xfrm>
            <a:off x="7167166" y="4115208"/>
            <a:ext cx="4190346" cy="178510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600">
                <a:solidFill>
                  <a:srgbClr val="002060"/>
                </a:solidFill>
              </a:rPr>
              <a:t>📑</a:t>
            </a:r>
            <a:r>
              <a:rPr lang="en-GB" sz="3000">
                <a:solidFill>
                  <a:srgbClr val="002060"/>
                </a:solidFill>
              </a:rPr>
              <a:t>Documentation</a:t>
            </a:r>
            <a:endParaRPr lang="en-US" sz="3000">
              <a:solidFill>
                <a:srgbClr val="00206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Executive Summary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Project Report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Aptos" panose="020B0004020202020204"/>
                <a:ea typeface="+mn-lt"/>
                <a:cs typeface="Arial"/>
              </a:rPr>
              <a:t>Project</a:t>
            </a:r>
            <a:r>
              <a:rPr lang="en-GB" sz="2000">
                <a:latin typeface="Arial"/>
                <a:ea typeface="+mn-lt"/>
                <a:cs typeface="Arial"/>
              </a:rPr>
              <a:t> Documentation</a:t>
            </a:r>
            <a:endParaRPr lang="en-GB" sz="1600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Recommendations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62591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081C1D-58AB-5DA5-E413-6ECEEC5834F8}"/>
              </a:ext>
            </a:extLst>
          </p:cNvPr>
          <p:cNvSpPr txBox="1"/>
          <p:nvPr/>
        </p:nvSpPr>
        <p:spPr>
          <a:xfrm>
            <a:off x="799171" y="483219"/>
            <a:ext cx="1029629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000" b="1">
                <a:solidFill>
                  <a:srgbClr val="002060"/>
                </a:solidFill>
                <a:ea typeface="+mn-lt"/>
                <a:cs typeface="+mn-lt"/>
              </a:rPr>
              <a:t>Project Methodology</a:t>
            </a:r>
            <a:endParaRPr lang="en-US" sz="3000" b="1">
              <a:solidFill>
                <a:srgbClr val="00206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5C4EACE-0451-E0D2-AB8B-3526404CDAB0}"/>
              </a:ext>
            </a:extLst>
          </p:cNvPr>
          <p:cNvCxnSpPr/>
          <p:nvPr/>
        </p:nvCxnSpPr>
        <p:spPr>
          <a:xfrm>
            <a:off x="805543" y="1393372"/>
            <a:ext cx="10293991" cy="76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5A61BC-0E04-0C62-C3D0-8418CF2D65FE}"/>
              </a:ext>
            </a:extLst>
          </p:cNvPr>
          <p:cNvSpPr txBox="1"/>
          <p:nvPr/>
        </p:nvSpPr>
        <p:spPr>
          <a:xfrm>
            <a:off x="821827" y="1766495"/>
            <a:ext cx="2726562" cy="11670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ea typeface="+mn-lt"/>
                <a:cs typeface="+mn-lt"/>
              </a:rPr>
              <a:t>📂 Dataset</a:t>
            </a:r>
            <a:endParaRPr lang="en-US" b="1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Superstore CSV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Retail Sales Data</a:t>
            </a:r>
            <a:endParaRPr lang="en-GB" sz="15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99ED5-EE1C-BCEE-5B30-8B826E06B8A6}"/>
              </a:ext>
            </a:extLst>
          </p:cNvPr>
          <p:cNvSpPr txBox="1"/>
          <p:nvPr/>
        </p:nvSpPr>
        <p:spPr>
          <a:xfrm>
            <a:off x="4509517" y="1767203"/>
            <a:ext cx="2880731" cy="15132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latin typeface="Aptos"/>
                <a:ea typeface="+mn-lt"/>
                <a:cs typeface="+mn-lt"/>
              </a:rPr>
              <a:t>🗄 SQL Analysis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Data Exploration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SQL Queries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Sales &amp; Profit Analysis</a:t>
            </a:r>
            <a:endParaRPr lang="en-GB" sz="15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9E307-BE37-8DF8-1186-A9ABBB7D0ADE}"/>
              </a:ext>
            </a:extLst>
          </p:cNvPr>
          <p:cNvSpPr txBox="1"/>
          <p:nvPr/>
        </p:nvSpPr>
        <p:spPr>
          <a:xfrm>
            <a:off x="8678480" y="1765964"/>
            <a:ext cx="2416097" cy="17143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ea typeface="+mn-lt"/>
                <a:cs typeface="+mn-lt"/>
              </a:rPr>
              <a:t>✅ Data Validation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Verify KPIs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Check Accuracy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Validate Results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33110-C5BE-4B85-A2C9-FCBFB27C40B8}"/>
              </a:ext>
            </a:extLst>
          </p:cNvPr>
          <p:cNvSpPr txBox="1"/>
          <p:nvPr/>
        </p:nvSpPr>
        <p:spPr>
          <a:xfrm>
            <a:off x="815455" y="3465375"/>
            <a:ext cx="2732047" cy="21516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ea typeface="+mn-lt"/>
                <a:cs typeface="+mn-lt"/>
              </a:rPr>
              <a:t>📊 Dashboard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Pivot Tables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Charts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KPI Cards</a:t>
            </a:r>
            <a:endParaRPr lang="en-GB"/>
          </a:p>
          <a:p>
            <a:pPr>
              <a:lnSpc>
                <a:spcPct val="150000"/>
              </a:lnSpc>
            </a:pPr>
            <a:endParaRPr lang="en-GB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1110F-7FBF-22C2-87C2-3EF7DD0460C7}"/>
              </a:ext>
            </a:extLst>
          </p:cNvPr>
          <p:cNvSpPr txBox="1"/>
          <p:nvPr/>
        </p:nvSpPr>
        <p:spPr>
          <a:xfrm>
            <a:off x="4664926" y="3772829"/>
            <a:ext cx="2490439" cy="16169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18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55DBA-E558-0495-6CDA-4FF3F4C8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82E397-00F4-915A-77B0-DA9ED0D47AA3}"/>
              </a:ext>
            </a:extLst>
          </p:cNvPr>
          <p:cNvSpPr txBox="1"/>
          <p:nvPr/>
        </p:nvSpPr>
        <p:spPr>
          <a:xfrm>
            <a:off x="799171" y="483219"/>
            <a:ext cx="1029629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000" b="1">
                <a:solidFill>
                  <a:srgbClr val="002060"/>
                </a:solidFill>
                <a:ea typeface="+mn-lt"/>
                <a:cs typeface="+mn-lt"/>
              </a:rPr>
              <a:t>Project Methodology</a:t>
            </a:r>
            <a:endParaRPr lang="en-US" sz="3000" b="1">
              <a:solidFill>
                <a:srgbClr val="00206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4C9AFF1-CD62-CE89-359A-7CA14C2BA2BA}"/>
              </a:ext>
            </a:extLst>
          </p:cNvPr>
          <p:cNvCxnSpPr/>
          <p:nvPr/>
        </p:nvCxnSpPr>
        <p:spPr>
          <a:xfrm>
            <a:off x="805543" y="1393372"/>
            <a:ext cx="10293991" cy="76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9E4C6B-0C72-8723-2D48-61BD031A03EF}"/>
              </a:ext>
            </a:extLst>
          </p:cNvPr>
          <p:cNvSpPr txBox="1"/>
          <p:nvPr/>
        </p:nvSpPr>
        <p:spPr>
          <a:xfrm>
            <a:off x="816461" y="1562580"/>
            <a:ext cx="2104083" cy="117778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ea typeface="+mn-lt"/>
                <a:cs typeface="+mn-lt"/>
              </a:rPr>
              <a:t>📂 Dataset</a:t>
            </a:r>
            <a:endParaRPr lang="en-US" b="1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Superstore CSV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Retail Sales Data</a:t>
            </a:r>
            <a:endParaRPr lang="en-GB" sz="15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92E37-290B-E32A-F80E-B2883C82F8D2}"/>
              </a:ext>
            </a:extLst>
          </p:cNvPr>
          <p:cNvSpPr txBox="1"/>
          <p:nvPr/>
        </p:nvSpPr>
        <p:spPr>
          <a:xfrm>
            <a:off x="4488051" y="1563289"/>
            <a:ext cx="2322647" cy="154012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latin typeface="Aptos"/>
                <a:ea typeface="+mn-lt"/>
                <a:cs typeface="+mn-lt"/>
              </a:rPr>
              <a:t>🗄 SQL Analysis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Data Exploration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SQL Queries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Sales &amp; Profit Analysis</a:t>
            </a:r>
            <a:endParaRPr lang="en-GB" sz="15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FC44B-C2F7-9F3B-69F0-CC80527BA707}"/>
              </a:ext>
            </a:extLst>
          </p:cNvPr>
          <p:cNvSpPr txBox="1"/>
          <p:nvPr/>
        </p:nvSpPr>
        <p:spPr>
          <a:xfrm>
            <a:off x="8678480" y="1562048"/>
            <a:ext cx="2416097" cy="171438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ea typeface="+mn-lt"/>
                <a:cs typeface="+mn-lt"/>
              </a:rPr>
              <a:t>✅ Data Validation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Verify KPIs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Check Accuracy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Validate Results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E127A-84AC-462E-78B3-F208E285AD27}"/>
              </a:ext>
            </a:extLst>
          </p:cNvPr>
          <p:cNvSpPr txBox="1"/>
          <p:nvPr/>
        </p:nvSpPr>
        <p:spPr>
          <a:xfrm>
            <a:off x="8757427" y="4238106"/>
            <a:ext cx="2383244" cy="170364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ea typeface="+mn-lt"/>
                <a:cs typeface="+mn-lt"/>
              </a:rPr>
              <a:t>📊 Dashboard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Pivot Tables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Charts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KPI Cards</a:t>
            </a:r>
            <a:endParaRPr lang="en-GB"/>
          </a:p>
        </p:txBody>
      </p:sp>
      <p:sp>
        <p:nvSpPr>
          <p:cNvPr id="10" name="TextBox 9" hidden="1">
            <a:extLst>
              <a:ext uri="{FF2B5EF4-FFF2-40B4-BE49-F238E27FC236}">
                <a16:creationId xmlns:a16="http://schemas.microsoft.com/office/drawing/2014/main" id="{E1CCC0A4-A63A-80E6-29B7-C0839D87F0E5}"/>
              </a:ext>
            </a:extLst>
          </p:cNvPr>
          <p:cNvSpPr txBox="1"/>
          <p:nvPr/>
        </p:nvSpPr>
        <p:spPr>
          <a:xfrm>
            <a:off x="4664926" y="3772829"/>
            <a:ext cx="2490439" cy="16169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5" name="TextBox 4" hidden="1">
            <a:extLst>
              <a:ext uri="{FF2B5EF4-FFF2-40B4-BE49-F238E27FC236}">
                <a16:creationId xmlns:a16="http://schemas.microsoft.com/office/drawing/2014/main" id="{AD4F603A-5F8A-B14B-D6BC-FC9ACE507744}"/>
              </a:ext>
            </a:extLst>
          </p:cNvPr>
          <p:cNvSpPr txBox="1"/>
          <p:nvPr/>
        </p:nvSpPr>
        <p:spPr>
          <a:xfrm>
            <a:off x="4534829" y="3772828"/>
            <a:ext cx="2453268" cy="14310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9F9D9-85D2-B1AF-F056-93B30F1A41CD}"/>
              </a:ext>
            </a:extLst>
          </p:cNvPr>
          <p:cNvSpPr txBox="1"/>
          <p:nvPr/>
        </p:nvSpPr>
        <p:spPr>
          <a:xfrm>
            <a:off x="4417367" y="4235573"/>
            <a:ext cx="2469592" cy="15132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ea typeface="+mn-lt"/>
                <a:cs typeface="+mn-lt"/>
              </a:rPr>
              <a:t>💡 Business Insights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Sales Trends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Regional Performance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Top Categories</a:t>
            </a:r>
            <a:endParaRPr lang="en-GB" sz="15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A1B032-F1A8-F536-9DCC-35F19D1EE981}"/>
              </a:ext>
            </a:extLst>
          </p:cNvPr>
          <p:cNvSpPr txBox="1"/>
          <p:nvPr/>
        </p:nvSpPr>
        <p:spPr>
          <a:xfrm>
            <a:off x="460533" y="4238171"/>
            <a:ext cx="2587291" cy="15132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b="1">
                <a:ea typeface="+mn-lt"/>
                <a:cs typeface="+mn-lt"/>
              </a:rPr>
              <a:t>📝 Documentation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Executive Summary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Project Report</a:t>
            </a:r>
            <a:endParaRPr lang="en-GB" sz="15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1500">
                <a:ea typeface="+mn-lt"/>
                <a:cs typeface="+mn-lt"/>
              </a:rPr>
              <a:t>Recommendations</a:t>
            </a:r>
            <a:endParaRPr lang="en-GB" sz="150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49C5F4-B203-9E2F-9040-C78953E00B56}"/>
              </a:ext>
            </a:extLst>
          </p:cNvPr>
          <p:cNvCxnSpPr/>
          <p:nvPr/>
        </p:nvCxnSpPr>
        <p:spPr>
          <a:xfrm flipV="1">
            <a:off x="3198253" y="2151845"/>
            <a:ext cx="1051774" cy="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27048C-8A09-5FF4-AE0B-99BF3C544953}"/>
              </a:ext>
            </a:extLst>
          </p:cNvPr>
          <p:cNvCxnSpPr/>
          <p:nvPr/>
        </p:nvCxnSpPr>
        <p:spPr>
          <a:xfrm>
            <a:off x="6981422" y="2312831"/>
            <a:ext cx="1475704" cy="3756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2140A2-0531-BDD2-2831-F2AA021BFAB2}"/>
              </a:ext>
            </a:extLst>
          </p:cNvPr>
          <p:cNvCxnSpPr>
            <a:cxnSpLocks/>
          </p:cNvCxnSpPr>
          <p:nvPr/>
        </p:nvCxnSpPr>
        <p:spPr>
          <a:xfrm flipH="1" flipV="1">
            <a:off x="3182155" y="4963731"/>
            <a:ext cx="1067872" cy="1073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933822-1F7E-0BB2-2A8E-E34683973FE3}"/>
              </a:ext>
            </a:extLst>
          </p:cNvPr>
          <p:cNvCxnSpPr>
            <a:cxnSpLocks/>
          </p:cNvCxnSpPr>
          <p:nvPr/>
        </p:nvCxnSpPr>
        <p:spPr>
          <a:xfrm flipH="1" flipV="1">
            <a:off x="7217534" y="5006660"/>
            <a:ext cx="1405943" cy="1609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649F1C-C99C-20F4-4772-D1A01C3FB1BA}"/>
              </a:ext>
            </a:extLst>
          </p:cNvPr>
          <p:cNvCxnSpPr>
            <a:cxnSpLocks/>
          </p:cNvCxnSpPr>
          <p:nvPr/>
        </p:nvCxnSpPr>
        <p:spPr>
          <a:xfrm flipH="1">
            <a:off x="9938196" y="3407533"/>
            <a:ext cx="21465" cy="62247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09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2A4223-D69F-075B-F7D1-0BB8E4941ABE}"/>
              </a:ext>
            </a:extLst>
          </p:cNvPr>
          <p:cNvSpPr txBox="1"/>
          <p:nvPr/>
        </p:nvSpPr>
        <p:spPr>
          <a:xfrm>
            <a:off x="508000" y="623454"/>
            <a:ext cx="10922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000" b="1">
                <a:solidFill>
                  <a:srgbClr val="002060"/>
                </a:solidFill>
                <a:ea typeface="+mn-lt"/>
                <a:cs typeface="+mn-lt"/>
              </a:rPr>
              <a:t>Dashboard Overview</a:t>
            </a:r>
            <a:endParaRPr lang="en-US" sz="3000" b="1">
              <a:solidFill>
                <a:srgbClr val="00206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6AFB3B-1540-4D12-1DBB-E205DE402D33}"/>
              </a:ext>
            </a:extLst>
          </p:cNvPr>
          <p:cNvCxnSpPr/>
          <p:nvPr/>
        </p:nvCxnSpPr>
        <p:spPr>
          <a:xfrm flipV="1">
            <a:off x="527588" y="1359280"/>
            <a:ext cx="11133775" cy="4420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0F5CA19-E27D-903B-2707-CC633473E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912" y="1712089"/>
            <a:ext cx="8039581" cy="48951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6B192A-93D3-11A3-82F6-030315C75C80}"/>
              </a:ext>
            </a:extLst>
          </p:cNvPr>
          <p:cNvSpPr txBox="1"/>
          <p:nvPr/>
        </p:nvSpPr>
        <p:spPr>
          <a:xfrm>
            <a:off x="506392" y="2855088"/>
            <a:ext cx="319268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+mn-lt"/>
                <a:cs typeface="+mn-lt"/>
              </a:rPr>
              <a:t>Dashboard Features: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1502D-8A65-9662-11D1-17B6C099B847}"/>
              </a:ext>
            </a:extLst>
          </p:cNvPr>
          <p:cNvSpPr txBox="1"/>
          <p:nvPr/>
        </p:nvSpPr>
        <p:spPr>
          <a:xfrm>
            <a:off x="506393" y="3347013"/>
            <a:ext cx="3086581" cy="2960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,Sans-Serif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KPI Cards (Total Sales, Total Profit &amp; Total Quantity)</a:t>
            </a:r>
          </a:p>
          <a:p>
            <a:pPr>
              <a:lnSpc>
                <a:spcPct val="150000"/>
              </a:lnSpc>
              <a:buFont typeface="Arial,Sans-Serif"/>
              <a:buChar char="•"/>
            </a:pPr>
            <a:r>
              <a:rPr lang="en-GB">
                <a:ea typeface="+mn-lt"/>
                <a:cs typeface="+mn-lt"/>
              </a:rPr>
              <a:t>Sales by Category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Arial,Sans-Serif"/>
              <a:buChar char="•"/>
            </a:pPr>
            <a:r>
              <a:rPr lang="en-GB">
                <a:ea typeface="+mn-lt"/>
                <a:cs typeface="+mn-lt"/>
              </a:rPr>
              <a:t>Sales by Region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Arial,Sans-Serif"/>
              <a:buChar char="•"/>
            </a:pPr>
            <a:r>
              <a:rPr lang="en-GB">
                <a:ea typeface="+mn-lt"/>
                <a:cs typeface="+mn-lt"/>
              </a:rPr>
              <a:t>Top 10 States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Arial,Sans-Serif"/>
              <a:buChar char="•"/>
            </a:pPr>
            <a:r>
              <a:rPr lang="en-GB">
                <a:ea typeface="+mn-lt"/>
                <a:cs typeface="+mn-lt"/>
              </a:rPr>
              <a:t>Category vs Region Analysis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6446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8B51-DA4B-50D5-C8C2-89777A6BD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000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SQL Analysis</a:t>
            </a:r>
            <a:endParaRPr lang="en-US" sz="3000" b="1">
              <a:solidFill>
                <a:srgbClr val="002060"/>
              </a:solidFill>
              <a:latin typeface="Apto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A67C7-0562-C606-A635-374FFB712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sz="2000" dirty="0">
                <a:ea typeface="+mn-lt"/>
                <a:cs typeface="+mn-lt"/>
              </a:rPr>
              <a:t>             </a:t>
            </a:r>
            <a:r>
              <a:rPr lang="en-GB" sz="2000">
                <a:solidFill>
                  <a:srgbClr val="002060"/>
                </a:solidFill>
                <a:ea typeface="+mn-lt"/>
                <a:cs typeface="+mn-lt"/>
              </a:rPr>
              <a:t> SQL Queries Performed</a:t>
            </a:r>
            <a:endParaRPr lang="en-US" sz="200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12390-343C-FC54-F831-AF3CF08138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Total Sales Analysis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Total Profit Analysis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Sales by Category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Sales by Region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Top 10 States by Sales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Category vs Region Analysis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Order Quantity Summary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KPI Verification Queries</a:t>
            </a:r>
            <a:endParaRPr lang="en-GB" sz="1800" dirty="0"/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08A8C5-9F96-3B2F-EF08-8BABF36D8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2000">
                <a:ea typeface="+mn-lt"/>
                <a:cs typeface="+mn-lt"/>
              </a:rPr>
              <a:t>💡 </a:t>
            </a:r>
            <a:r>
              <a:rPr lang="en-GB" sz="2000">
                <a:solidFill>
                  <a:srgbClr val="002060"/>
                </a:solidFill>
                <a:ea typeface="+mn-lt"/>
                <a:cs typeface="+mn-lt"/>
              </a:rPr>
              <a:t>Business Insights</a:t>
            </a:r>
            <a:endParaRPr lang="en-US" sz="2000">
              <a:solidFill>
                <a:srgbClr val="00206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E202A-4889-542A-F101-F9F4193E33C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GB" sz="1800">
                <a:ea typeface="+mn-lt"/>
                <a:cs typeface="+mn-lt"/>
              </a:rPr>
              <a:t>Technology generated the highest sales.</a:t>
            </a:r>
            <a:endParaRPr lang="en-GB" sz="1800" dirty="0"/>
          </a:p>
          <a:p>
            <a:pPr>
              <a:lnSpc>
                <a:spcPct val="170000"/>
              </a:lnSpc>
            </a:pPr>
            <a:r>
              <a:rPr lang="en-GB" sz="1800">
                <a:ea typeface="+mn-lt"/>
                <a:cs typeface="+mn-lt"/>
              </a:rPr>
              <a:t>West region recorded the highest revenue.</a:t>
            </a:r>
            <a:endParaRPr lang="en-GB" sz="1800" dirty="0"/>
          </a:p>
          <a:p>
            <a:pPr>
              <a:lnSpc>
                <a:spcPct val="170000"/>
              </a:lnSpc>
            </a:pPr>
            <a:r>
              <a:rPr lang="en-GB" sz="1800">
                <a:ea typeface="+mn-lt"/>
                <a:cs typeface="+mn-lt"/>
              </a:rPr>
              <a:t>California was the top-performing state.</a:t>
            </a:r>
            <a:endParaRPr lang="en-GB" sz="1800" dirty="0"/>
          </a:p>
          <a:p>
            <a:pPr>
              <a:lnSpc>
                <a:spcPct val="170000"/>
              </a:lnSpc>
            </a:pPr>
            <a:r>
              <a:rPr lang="en-GB" sz="1800">
                <a:ea typeface="+mn-lt"/>
                <a:cs typeface="+mn-lt"/>
              </a:rPr>
              <a:t>Sales and profit trends were verified.</a:t>
            </a:r>
            <a:endParaRPr lang="en-GB" sz="1800" dirty="0"/>
          </a:p>
          <a:p>
            <a:pPr>
              <a:lnSpc>
                <a:spcPct val="170000"/>
              </a:lnSpc>
            </a:pPr>
            <a:r>
              <a:rPr lang="en-GB" sz="1800">
                <a:ea typeface="+mn-lt"/>
                <a:cs typeface="+mn-lt"/>
              </a:rPr>
              <a:t>SQL results matched Excel dashboard KPIs.</a:t>
            </a:r>
            <a:endParaRPr lang="en-GB" sz="1800" dirty="0"/>
          </a:p>
          <a:p>
            <a:pPr>
              <a:lnSpc>
                <a:spcPct val="170000"/>
              </a:lnSpc>
            </a:pPr>
            <a:r>
              <a:rPr lang="en-GB" sz="1800">
                <a:ea typeface="+mn-lt"/>
                <a:cs typeface="+mn-lt"/>
              </a:rPr>
              <a:t>Data accuracy was confirmed before visualization.</a:t>
            </a:r>
            <a:endParaRPr lang="en-GB" sz="1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F24664-01B6-CBFF-925D-AB78DDB6F0D0}"/>
              </a:ext>
            </a:extLst>
          </p:cNvPr>
          <p:cNvCxnSpPr/>
          <p:nvPr/>
        </p:nvCxnSpPr>
        <p:spPr>
          <a:xfrm flipV="1">
            <a:off x="839164" y="1321442"/>
            <a:ext cx="10513670" cy="2893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4F3652B-8383-917D-91CF-B0141D712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92" y="1939840"/>
            <a:ext cx="708146" cy="48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89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FE7D-5ACB-8445-7C19-33A65F59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Key Business Insights</a:t>
            </a:r>
            <a:endParaRPr lang="en-US" b="1">
              <a:solidFill>
                <a:srgbClr val="002060"/>
              </a:solidFill>
              <a:latin typeface="Aptos"/>
            </a:endParaRPr>
          </a:p>
          <a:p>
            <a:pPr algn="ctr"/>
            <a:endParaRPr lang="en-US" sz="3000" b="1" dirty="0">
              <a:solidFill>
                <a:srgbClr val="002060"/>
              </a:solidFill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68A9C-158D-0728-D5C9-EBF689AAA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67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600"/>
              <a:t>📈</a:t>
            </a:r>
            <a:r>
              <a:rPr lang="en-GB" sz="1600" dirty="0">
                <a:solidFill>
                  <a:srgbClr val="002060"/>
                </a:solidFill>
              </a:rPr>
              <a:t> </a:t>
            </a:r>
            <a:r>
              <a:rPr lang="en-GB" sz="1600" b="1">
                <a:solidFill>
                  <a:srgbClr val="002060"/>
                </a:solidFill>
              </a:rPr>
              <a:t>Sales Insights</a:t>
            </a:r>
            <a:endParaRPr lang="en-US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</a:pPr>
            <a:r>
              <a:rPr lang="en-GB" sz="1600">
                <a:ea typeface="+mn-lt"/>
                <a:cs typeface="+mn-lt"/>
              </a:rPr>
              <a:t>Technology category achieved the highest sales.</a:t>
            </a:r>
            <a:endParaRPr lang="en-GB" sz="1600"/>
          </a:p>
          <a:p>
            <a:pPr>
              <a:lnSpc>
                <a:spcPct val="100000"/>
              </a:lnSpc>
            </a:pPr>
            <a:r>
              <a:rPr lang="en-GB" sz="1600">
                <a:ea typeface="+mn-lt"/>
                <a:cs typeface="+mn-lt"/>
              </a:rPr>
              <a:t>West region generated the highest revenue.</a:t>
            </a:r>
            <a:endParaRPr lang="en-GB" sz="1600"/>
          </a:p>
          <a:p>
            <a:pPr>
              <a:lnSpc>
                <a:spcPct val="100000"/>
              </a:lnSpc>
            </a:pPr>
            <a:r>
              <a:rPr lang="en-GB" sz="1600">
                <a:ea typeface="+mn-lt"/>
                <a:cs typeface="+mn-lt"/>
              </a:rPr>
              <a:t>California recorded the highest sales among all states.</a:t>
            </a:r>
            <a:endParaRPr lang="en-GB" sz="1600"/>
          </a:p>
          <a:p>
            <a:pPr>
              <a:lnSpc>
                <a:spcPct val="100000"/>
              </a:lnSpc>
            </a:pPr>
            <a:r>
              <a:rPr lang="en-GB" sz="1600">
                <a:ea typeface="+mn-lt"/>
                <a:cs typeface="+mn-lt"/>
              </a:rPr>
              <a:t>Office Supplies had comparatively lower sales.</a:t>
            </a:r>
            <a:endParaRPr lang="en-GB" sz="1600"/>
          </a:p>
          <a:p>
            <a:pPr>
              <a:lnSpc>
                <a:spcPct val="100000"/>
              </a:lnSpc>
            </a:pPr>
            <a:r>
              <a:rPr lang="en-GB" sz="1600">
                <a:latin typeface="Aptos" panose="020B0004020202020204"/>
                <a:ea typeface="+mn-lt"/>
                <a:cs typeface="Arial"/>
              </a:rPr>
              <a:t>Dashboard KPIs were successfully validated using SQL analysis.</a:t>
            </a:r>
            <a:br>
              <a:rPr lang="en-GB" sz="1600" dirty="0">
                <a:latin typeface="Arial"/>
                <a:ea typeface="+mn-lt"/>
                <a:cs typeface="Arial"/>
              </a:rPr>
            </a:br>
            <a:endParaRPr lang="en-GB" sz="13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600" b="1"/>
              <a:t>💡</a:t>
            </a:r>
            <a:r>
              <a:rPr lang="en-GB" sz="1600" b="1">
                <a:solidFill>
                  <a:srgbClr val="002060"/>
                </a:solidFill>
              </a:rPr>
              <a:t> Business Recommendations</a:t>
            </a:r>
          </a:p>
          <a:p>
            <a:pPr>
              <a:lnSpc>
                <a:spcPct val="100000"/>
              </a:lnSpc>
            </a:pPr>
            <a:r>
              <a:rPr lang="en-GB" sz="1600">
                <a:ea typeface="+mn-lt"/>
                <a:cs typeface="+mn-lt"/>
              </a:rPr>
              <a:t>Focus marketing on Technology products.</a:t>
            </a:r>
            <a:endParaRPr lang="en-GB" sz="1600"/>
          </a:p>
          <a:p>
            <a:pPr>
              <a:lnSpc>
                <a:spcPct val="100000"/>
              </a:lnSpc>
            </a:pPr>
            <a:r>
              <a:rPr lang="en-GB" sz="1600">
                <a:ea typeface="+mn-lt"/>
                <a:cs typeface="+mn-lt"/>
              </a:rPr>
              <a:t>Strengthen sales in South and Central regions.</a:t>
            </a:r>
            <a:endParaRPr lang="en-GB" sz="1600"/>
          </a:p>
          <a:p>
            <a:pPr>
              <a:lnSpc>
                <a:spcPct val="100000"/>
              </a:lnSpc>
            </a:pPr>
            <a:r>
              <a:rPr lang="en-GB" sz="1600">
                <a:ea typeface="+mn-lt"/>
                <a:cs typeface="+mn-lt"/>
              </a:rPr>
              <a:t>Improve performance in lower-selling categories.</a:t>
            </a:r>
            <a:endParaRPr lang="en-GB" sz="1600"/>
          </a:p>
          <a:p>
            <a:pPr>
              <a:lnSpc>
                <a:spcPct val="100000"/>
              </a:lnSpc>
            </a:pPr>
            <a:r>
              <a:rPr lang="en-GB" sz="1600">
                <a:latin typeface="Aptos"/>
                <a:ea typeface="+mn-lt"/>
                <a:cs typeface="Arial"/>
              </a:rPr>
              <a:t>Continuously monitor KPIs using interactive dashboards.</a:t>
            </a:r>
          </a:p>
          <a:p>
            <a:pPr>
              <a:lnSpc>
                <a:spcPct val="100000"/>
              </a:lnSpc>
            </a:pPr>
            <a:r>
              <a:rPr lang="en-GB" sz="1600">
                <a:ea typeface="+mn-lt"/>
                <a:cs typeface="+mn-lt"/>
              </a:rPr>
              <a:t>Use SQL validation before reporting business metrics.</a:t>
            </a:r>
            <a:endParaRPr lang="en-GB" sz="1600"/>
          </a:p>
          <a:p>
            <a:endParaRPr lang="en-GB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6FD0837-9D5D-0B06-5DD7-62ADDC52E264}"/>
              </a:ext>
            </a:extLst>
          </p:cNvPr>
          <p:cNvCxnSpPr/>
          <p:nvPr/>
        </p:nvCxnSpPr>
        <p:spPr>
          <a:xfrm flipV="1">
            <a:off x="827221" y="1338345"/>
            <a:ext cx="10522307" cy="5061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947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9BF7E-0830-F809-7482-6A8583C5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000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Conclusion</a:t>
            </a:r>
            <a:endParaRPr lang="en-US" sz="3000" b="1">
              <a:solidFill>
                <a:srgbClr val="002060"/>
              </a:solidFill>
              <a:latin typeface="Apto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7115E-63B5-21E4-B388-DB9D2580B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solidFill>
                  <a:srgbClr val="002060"/>
                </a:solidFill>
                <a:ea typeface="+mn-lt"/>
                <a:cs typeface="+mn-lt"/>
              </a:rPr>
              <a:t>📋 Project Summary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3B2D-9CC8-CA9D-7994-5B4060AC24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ea typeface="+mn-lt"/>
                <a:cs typeface="+mn-lt"/>
              </a:rPr>
              <a:t>Successfully analyzed the Superstore retail dataset.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Performed SQL-based sales and profit analysis.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Developed an interactive Excel dashboard.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Verified KPIs using SQL queries.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Generated actionable business insights.</a:t>
            </a:r>
            <a:endParaRPr lang="en-GB" sz="1800" dirty="0"/>
          </a:p>
          <a:p>
            <a:endParaRPr lang="en-GB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C33C2-A11E-E87D-C351-7D1A67436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>
                <a:solidFill>
                  <a:srgbClr val="002060"/>
                </a:solidFill>
                <a:ea typeface="+mn-lt"/>
                <a:cs typeface="+mn-lt"/>
              </a:rPr>
              <a:t>🏆 Project Outcome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677233-0B5F-5F50-0FA4-5ACBCCAE433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Improved understanding of retail sales performance.</a:t>
            </a:r>
            <a:endParaRPr lang="en-GB" sz="180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Identified top-performing categories and regions.</a:t>
            </a:r>
            <a:endParaRPr lang="en-GB" sz="180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Demonstrated practical SQL and Excel skills.</a:t>
            </a:r>
            <a:endParaRPr lang="en-GB" sz="180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Created an easy-to-understand business dashboard.</a:t>
            </a:r>
            <a:endParaRPr lang="en-GB" sz="180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Completed a real-world data analytics project.</a:t>
            </a:r>
            <a:endParaRPr lang="en-GB" sz="1800"/>
          </a:p>
          <a:p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FF2757-736D-FE56-C37B-86606F303EAF}"/>
              </a:ext>
            </a:extLst>
          </p:cNvPr>
          <p:cNvCxnSpPr/>
          <p:nvPr/>
        </p:nvCxnSpPr>
        <p:spPr>
          <a:xfrm flipV="1">
            <a:off x="848810" y="1475771"/>
            <a:ext cx="10504024" cy="7716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418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9025-3E13-C80A-2B78-9F68779B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000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Future Scope</a:t>
            </a:r>
            <a:endParaRPr lang="en-GB" sz="3000" b="1">
              <a:solidFill>
                <a:srgbClr val="002060"/>
              </a:solidFill>
              <a:latin typeface="Apto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E4E06-2CA5-24FC-628A-1029232AE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solidFill>
                  <a:srgbClr val="002060"/>
                </a:solidFill>
                <a:ea typeface="+mn-lt"/>
                <a:cs typeface="+mn-lt"/>
              </a:rPr>
              <a:t>📈 Future Enhancements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69EB4-BCD1-4D97-ABA9-E6442550CD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Develop the dashboard using Power BI or Tableau.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Connect the dashboard to a live database.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Add sales forecasting using machine learning.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Automate report generation.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Create interactive web-based dashboards.</a:t>
            </a:r>
            <a:endParaRPr lang="en-GB" sz="1800" dirty="0"/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D9240-A545-2665-6D0E-976DDA4DD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>
                <a:solidFill>
                  <a:srgbClr val="002060"/>
                </a:solidFill>
                <a:ea typeface="+mn-lt"/>
                <a:cs typeface="+mn-lt"/>
              </a:rPr>
              <a:t>🚀 Skills Gained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9597D-574B-FE44-BFEC-139B125B74E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SQL Query Writing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Data Cleaning &amp; Validation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Excel Dashboard Development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Data Visualization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Business Analytics &amp; Reporting</a:t>
            </a:r>
            <a:endParaRPr lang="en-GB" sz="1800" dirty="0"/>
          </a:p>
          <a:p>
            <a:pPr marL="0" indent="0">
              <a:lnSpc>
                <a:spcPct val="150000"/>
              </a:lnSpc>
              <a:buNone/>
            </a:pPr>
            <a:endParaRPr lang="en-GB" sz="1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E5A1A4-17E6-6298-7AF4-DD47E8EFD389}"/>
              </a:ext>
            </a:extLst>
          </p:cNvPr>
          <p:cNvCxnSpPr/>
          <p:nvPr/>
        </p:nvCxnSpPr>
        <p:spPr>
          <a:xfrm flipV="1">
            <a:off x="906683" y="1485417"/>
            <a:ext cx="10446151" cy="2893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9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D87A2-BEB4-3FD8-27AA-80136D05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2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800" b="1">
                <a:solidFill>
                  <a:srgbClr val="002060"/>
                </a:solidFill>
                <a:latin typeface="Aptos"/>
                <a:ea typeface="+mj-lt"/>
                <a:cs typeface="+mj-lt"/>
              </a:rPr>
              <a:t>Thank You!</a:t>
            </a:r>
            <a:endParaRPr lang="en-US" sz="3800" b="1">
              <a:solidFill>
                <a:srgbClr val="002060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487F1-25E6-E22E-799B-8B98CD7686E3}"/>
              </a:ext>
            </a:extLst>
          </p:cNvPr>
          <p:cNvSpPr txBox="1"/>
          <p:nvPr/>
        </p:nvSpPr>
        <p:spPr>
          <a:xfrm>
            <a:off x="839165" y="5001225"/>
            <a:ext cx="4928885" cy="1450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sz="1200" b="1">
                <a:solidFill>
                  <a:srgbClr val="002060"/>
                </a:solidFill>
                <a:ea typeface="+mn-lt"/>
                <a:cs typeface="+mn-lt"/>
              </a:rPr>
              <a:t>Presented by</a:t>
            </a:r>
            <a:endParaRPr lang="en-US" sz="1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ea typeface="+mn-lt"/>
                <a:cs typeface="+mn-lt"/>
              </a:rPr>
              <a:t>Mandar Vijay </a:t>
            </a:r>
            <a:r>
              <a:rPr lang="en-GB" sz="1200" dirty="0" err="1">
                <a:ea typeface="+mn-lt"/>
                <a:cs typeface="+mn-lt"/>
              </a:rPr>
              <a:t>Alhat</a:t>
            </a:r>
            <a:endParaRPr lang="en-GB" sz="1200" dirty="0" err="1"/>
          </a:p>
          <a:p>
            <a:pPr>
              <a:lnSpc>
                <a:spcPct val="150000"/>
              </a:lnSpc>
            </a:pPr>
            <a:r>
              <a:rPr lang="en-GB" sz="1200" b="1">
                <a:solidFill>
                  <a:srgbClr val="002060"/>
                </a:solidFill>
                <a:ea typeface="+mn-lt"/>
                <a:cs typeface="+mn-lt"/>
              </a:rPr>
              <a:t>B.Sc. Data Science (First Year)</a:t>
            </a:r>
            <a:endParaRPr lang="en-GB" sz="1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200">
                <a:ea typeface="+mn-lt"/>
                <a:cs typeface="+mn-lt"/>
              </a:rPr>
              <a:t>Symbiosis Skills and Professional University</a:t>
            </a:r>
            <a:endParaRPr lang="en-GB" sz="1200"/>
          </a:p>
          <a:p>
            <a:pPr>
              <a:lnSpc>
                <a:spcPct val="150000"/>
              </a:lnSpc>
            </a:pPr>
            <a:r>
              <a:rPr lang="en-GB" sz="1200" b="1">
                <a:solidFill>
                  <a:srgbClr val="002060"/>
                </a:solidFill>
                <a:ea typeface="+mn-lt"/>
                <a:cs typeface="+mn-lt"/>
              </a:rPr>
              <a:t>Intern at LA Green Solutions</a:t>
            </a:r>
            <a:endParaRPr lang="en-GB" sz="1200" b="1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E5703-BCEF-C40F-8046-689436C35AB8}"/>
              </a:ext>
            </a:extLst>
          </p:cNvPr>
          <p:cNvSpPr txBox="1"/>
          <p:nvPr/>
        </p:nvSpPr>
        <p:spPr>
          <a:xfrm>
            <a:off x="2208836" y="1967695"/>
            <a:ext cx="706055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>
                <a:solidFill>
                  <a:srgbClr val="002060"/>
                </a:solidFill>
                <a:ea typeface="+mn-lt"/>
                <a:cs typeface="+mn-lt"/>
              </a:rPr>
              <a:t>       Thank you for your time</a:t>
            </a:r>
            <a:br>
              <a:rPr lang="en-GB" sz="2800" b="1" dirty="0">
                <a:ea typeface="+mn-lt"/>
                <a:cs typeface="+mn-lt"/>
              </a:rPr>
            </a:br>
            <a:r>
              <a:rPr lang="en-GB" sz="2800" b="1">
                <a:solidFill>
                  <a:srgbClr val="002060"/>
                </a:solidFill>
                <a:ea typeface="+mn-lt"/>
                <a:cs typeface="+mn-lt"/>
              </a:rPr>
              <a:t>         and attention.</a:t>
            </a:r>
            <a:br>
              <a:rPr lang="en-GB" sz="2800" b="1" dirty="0">
                <a:ea typeface="+mn-lt"/>
                <a:cs typeface="+mn-lt"/>
              </a:rPr>
            </a:br>
            <a:br>
              <a:rPr lang="en-GB" sz="2800" b="1" dirty="0">
                <a:ea typeface="+mn-lt"/>
                <a:cs typeface="+mn-lt"/>
              </a:rPr>
            </a:br>
            <a:r>
              <a:rPr lang="en-GB" sz="2800" b="1">
                <a:solidFill>
                  <a:srgbClr val="002060"/>
                </a:solidFill>
                <a:ea typeface="+mn-lt"/>
                <a:cs typeface="+mn-lt"/>
              </a:rPr>
              <a:t>     Questions &amp; Discussion</a:t>
            </a:r>
            <a:endParaRPr lang="en-US" sz="28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293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Project Overview</vt:lpstr>
      <vt:lpstr>Project Objectives</vt:lpstr>
      <vt:lpstr>Dataset Description</vt:lpstr>
      <vt:lpstr>Tools &amp; Technologies</vt:lpstr>
      <vt:lpstr>PowerPoint Presentation</vt:lpstr>
      <vt:lpstr>PowerPoint Presentation</vt:lpstr>
      <vt:lpstr>PowerPoint Presentation</vt:lpstr>
      <vt:lpstr>SQL Analysis</vt:lpstr>
      <vt:lpstr>Key Business Insights </vt:lpstr>
      <vt:lpstr>Conclusion</vt:lpstr>
      <vt:lpstr>Future Scope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230</cp:revision>
  <dcterms:created xsi:type="dcterms:W3CDTF">2026-07-03T14:33:36Z</dcterms:created>
  <dcterms:modified xsi:type="dcterms:W3CDTF">2026-07-04T08:07:20Z</dcterms:modified>
</cp:coreProperties>
</file>